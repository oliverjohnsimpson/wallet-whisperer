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B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463040"/>
            <a:ext cx="4754880" cy="4754880"/>
          </a:xfrm>
          <a:prstGeom prst="ellipse">
            <a:avLst/>
          </a:prstGeom>
          <a:solidFill>
            <a:srgbClr val="028090">
              <a:alpha val="5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572000"/>
            <a:ext cx="3840480" cy="3840480"/>
          </a:xfrm>
          <a:prstGeom prst="ellipse">
            <a:avLst/>
          </a:prstGeom>
          <a:solidFill>
            <a:srgbClr val="00A896">
              <a:alpha val="4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19456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Wallet Whisperer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822960" y="32004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Foundation, MVP Scope &amp; Roadmap  ·  v5 (final review)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822960" y="5852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C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Review Deck  ·  AI Accelerator Hackathon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3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Wallet Whisperer Is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11064240" cy="1371600"/>
          </a:xfrm>
          <a:prstGeom prst="roundRect">
            <a:avLst>
              <a:gd name="adj" fmla="val 8000"/>
            </a:avLst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1280160"/>
            <a:ext cx="10424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Social apps use loops to capture attention. Cashless payments use frictionless loops to capture spending. Wallet Whisperer uses a counter-loop to restore financial awareness — and make saving emotionally visible.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548640" y="3017520"/>
            <a:ext cx="110642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0B3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positioned as “yet another AI budget tracker” — that is commodity.  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a </a:t>
            </a:r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close-the-day ritual</a:t>
            </a:r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that turns invisible digital spending into a short daily habit: log the day, see what each expense costs a goal you chose, get a small varying reward, come back tomorrow.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47548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name is finalized: Wallet Whisperer.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3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Problem: Apps Don't Fail on Features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fail on retention and behavior change — and payment tech keeps making spending easier to not feel.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520440" cy="2514600"/>
          </a:xfrm>
          <a:prstGeom prst="roundRect">
            <a:avLst>
              <a:gd name="adj" fmla="val 4364"/>
            </a:avLst>
          </a:prstGeom>
          <a:solidFill>
            <a:srgbClr val="F4F9F8"/>
          </a:solidFill>
          <a:ln w="12700">
            <a:solidFill>
              <a:srgbClr val="DCED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965960"/>
            <a:ext cx="3063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~70%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77240" y="2788920"/>
            <a:ext cx="30632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early discontinuation of behavior-change apps (18 studies, 525,824 users). NOTE: health/lifestyle apps, not budgeting — directional, not proven for finance.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343400" y="1783080"/>
            <a:ext cx="3520440" cy="2514600"/>
          </a:xfrm>
          <a:prstGeom prst="roundRect">
            <a:avLst>
              <a:gd name="adj" fmla="val 4364"/>
            </a:avLst>
          </a:prstGeom>
          <a:solidFill>
            <a:srgbClr val="F4F9F8"/>
          </a:solidFill>
          <a:ln w="12700">
            <a:solidFill>
              <a:srgbClr val="DCED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0" y="1965960"/>
            <a:ext cx="3063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75%→55%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572000" y="2788920"/>
            <a:ext cx="30632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in willingness to buy a $14.99 DVD when the opportunity cost was made explicit (Frederick et al., 2009).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138160" y="1783080"/>
            <a:ext cx="3520440" cy="2514600"/>
          </a:xfrm>
          <a:prstGeom prst="roundRect">
            <a:avLst>
              <a:gd name="adj" fmla="val 4364"/>
            </a:avLst>
          </a:prstGeom>
          <a:solidFill>
            <a:srgbClr val="F4F9F8"/>
          </a:solidFill>
          <a:ln w="12700">
            <a:solidFill>
              <a:srgbClr val="DCED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66760" y="1965960"/>
            <a:ext cx="3063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Mint, 2024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8366760" y="2788920"/>
            <a:ext cx="30632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15-year, millions-of-users tracker shut down — dashboards alone don't retain or change behavior.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48640" y="4572000"/>
            <a:ext cx="110642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0B3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verified findings that shaped the design:  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 alone doesn't change spending; precise budget-remaining feedback can increase spend late in a period (so we avoid a big “remaining” number); guilt/shame drives quiet abandonment; and lower payment transparency (cards, wallets) reduces the “pain of paying” and can raise consumption (Soman 2003; Prelec &amp; Simester).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" y="6547104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PMC scoping review (2024) · Frederick et al. (2009) · BehavioralEconomics.com / TFI · Soman (2003) · Prelec &amp; Simester — see References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3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Competitive Landscape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520440" cy="310896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5875">
            <a:solidFill>
              <a:srgbClr val="02809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371600"/>
            <a:ext cx="3520440" cy="566928"/>
          </a:xfrm>
          <a:prstGeom prst="roundRect">
            <a:avLst>
              <a:gd name="adj" fmla="val 16129"/>
            </a:avLst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371600"/>
            <a:ext cx="3154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NLP Quick-Log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2103120"/>
            <a:ext cx="3063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MonAi · Finny · FinTrack · SmartSpend · Gullak · PennyTrail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77240" y="3154680"/>
            <a:ext cx="30632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Commoditized — buildable solo in a weekend with the same stack our course teaches.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43400" y="1371600"/>
            <a:ext cx="3520440" cy="310896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5875">
            <a:solidFill>
              <a:srgbClr val="02809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343400" y="1371600"/>
            <a:ext cx="3520440" cy="566928"/>
          </a:xfrm>
          <a:prstGeom prst="roundRect">
            <a:avLst>
              <a:gd name="adj" fmla="val 16129"/>
            </a:avLst>
          </a:prstGeom>
          <a:solidFill>
            <a:srgbClr val="028090"/>
          </a:solidFill>
          <a:ln/>
        </p:spPr>
      </p:sp>
      <p:sp>
        <p:nvSpPr>
          <p:cNvPr id="10" name="Text 8"/>
          <p:cNvSpPr/>
          <p:nvPr/>
        </p:nvSpPr>
        <p:spPr>
          <a:xfrm>
            <a:off x="4526280" y="1371600"/>
            <a:ext cx="3154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Gamified Trackers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72000" y="2103120"/>
            <a:ext cx="3063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Bread · WalletCorner · Fortune City · Expenie · YNAB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0" y="3154680"/>
            <a:ext cx="30632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Mascots and XP decorate a dashboard; retention decays after novelty fades.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138160" y="1371600"/>
            <a:ext cx="3520440" cy="310896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5875">
            <a:solidFill>
              <a:srgbClr val="02809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138160" y="1371600"/>
            <a:ext cx="3520440" cy="566928"/>
          </a:xfrm>
          <a:prstGeom prst="roundRect">
            <a:avLst>
              <a:gd name="adj" fmla="val 16129"/>
            </a:avLst>
          </a:prstGeom>
          <a:solidFill>
            <a:srgbClr val="028090"/>
          </a:solidFill>
          <a:ln/>
        </p:spPr>
      </p:sp>
      <p:sp>
        <p:nvSpPr>
          <p:cNvPr id="15" name="Text 13"/>
          <p:cNvSpPr/>
          <p:nvPr/>
        </p:nvSpPr>
        <p:spPr>
          <a:xfrm>
            <a:off x="8321040" y="1371600"/>
            <a:ext cx="3154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Auto-Import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366760" y="2103120"/>
            <a:ext cx="3063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· PennyWise AI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366760" y="3154680"/>
            <a:ext cx="30632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 the manual-entry moment that drives engagement. Android/bank-format dependent.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48640" y="4709160"/>
            <a:ext cx="110642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0B3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but not identical: 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YNAB has savings targets; Qapital has goal-based saving and a “spend less” rule. Wallet Whisperer's edge is the </a:t>
            </a:r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combination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manual natural-language logging + a goal photo + per-purchase opportunity-cost translation + skipped-spend reward + a daily recap. Pitch it as a behavioral interface, not a unique financial primitive.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3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We Got Here: Every Version We Considered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2121408" cy="4023360"/>
          </a:xfrm>
          <a:prstGeom prst="roundRect">
            <a:avLst>
              <a:gd name="adj" fmla="val 4310"/>
            </a:avLst>
          </a:prstGeom>
          <a:solidFill>
            <a:srgbClr val="F4F9F8"/>
          </a:solidFill>
          <a:ln w="12700">
            <a:solidFill>
              <a:srgbClr val="DCEDE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1600200"/>
            <a:ext cx="184708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85800" y="2103120"/>
            <a:ext cx="1847088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quick-log + basic AI chat.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85800" y="4343400"/>
            <a:ext cx="184708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 — identical to 6+ existing apps.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770632" y="1463040"/>
            <a:ext cx="2121408" cy="4023360"/>
          </a:xfrm>
          <a:prstGeom prst="roundRect">
            <a:avLst>
              <a:gd name="adj" fmla="val 4310"/>
            </a:avLst>
          </a:prstGeom>
          <a:solidFill>
            <a:srgbClr val="F4F9F8"/>
          </a:solidFill>
          <a:ln w="12700">
            <a:solidFill>
              <a:srgbClr val="DCED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07792" y="1600200"/>
            <a:ext cx="184708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V2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2907792" y="2103120"/>
            <a:ext cx="1847088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“Instagram for money”: social feed, AI character reacts per log.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907792" y="4343400"/>
            <a:ext cx="184708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Hollow — generic AI follower had no real stake.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992624" y="1463040"/>
            <a:ext cx="2121408" cy="4023360"/>
          </a:xfrm>
          <a:prstGeom prst="roundRect">
            <a:avLst>
              <a:gd name="adj" fmla="val 4310"/>
            </a:avLst>
          </a:prstGeom>
          <a:solidFill>
            <a:srgbClr val="F4F9F8"/>
          </a:solidFill>
          <a:ln w="12700">
            <a:solidFill>
              <a:srgbClr val="DCED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29784" y="1600200"/>
            <a:ext cx="184708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V3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5129784" y="2103120"/>
            <a:ext cx="1847088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 Rival”: goal-as-voice, opportunity-cost lines, skip-logging.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129784" y="4343400"/>
            <a:ext cx="184708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research, but drifted from tracking.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7214616" y="1463040"/>
            <a:ext cx="2121408" cy="4023360"/>
          </a:xfrm>
          <a:prstGeom prst="roundRect">
            <a:avLst>
              <a:gd name="adj" fmla="val 4310"/>
            </a:avLst>
          </a:prstGeom>
          <a:solidFill>
            <a:srgbClr val="F4F9F8"/>
          </a:solidFill>
          <a:ln w="12700">
            <a:solidFill>
              <a:srgbClr val="DCEDE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51776" y="1600200"/>
            <a:ext cx="184708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V4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7351776" y="2103120"/>
            <a:ext cx="1847088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Tracking-first: analytics + flashcard log + Rival under Expenses.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351776" y="4343400"/>
            <a:ext cx="184708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Rival buried in a tab = just a chart.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9436608" y="1463040"/>
            <a:ext cx="2121408" cy="4023360"/>
          </a:xfrm>
          <a:prstGeom prst="roundRect">
            <a:avLst>
              <a:gd name="adj" fmla="val 4310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573768" y="1600200"/>
            <a:ext cx="184708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V5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9573768" y="2103120"/>
            <a:ext cx="1847088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Close-the-day counter-loop: batch log → Spent/Needed/Skipped → Rival at confirm → rotating reward → Report.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9573768" y="4343400"/>
            <a:ext cx="184708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D7F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Current, locked.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48640" y="6547104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Shown so the team sees why each pivot happened — not just the final answer.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3B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Core Loop: Close-the-Day Ritual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FC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stable daily context — not scattered real-time logging, not pre-spend interception.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520440" cy="1920240"/>
          </a:xfrm>
          <a:prstGeom prst="roundRect">
            <a:avLst>
              <a:gd name="adj" fmla="val 4762"/>
            </a:avLst>
          </a:prstGeom>
          <a:solidFill>
            <a:srgbClr val="0F4C4D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2011680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0116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3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17320" y="1984248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Daily trigger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49808" y="2606040"/>
            <a:ext cx="3154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7F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Chosen close-day time (e.g. 9:30 PM): “Close today in 30 seconds.”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43400" y="1783080"/>
            <a:ext cx="3520440" cy="1920240"/>
          </a:xfrm>
          <a:prstGeom prst="roundRect">
            <a:avLst>
              <a:gd name="adj" fmla="val 4762"/>
            </a:avLst>
          </a:prstGeom>
          <a:solidFill>
            <a:srgbClr val="0F4C4D"/>
          </a:solidFill>
          <a:ln/>
        </p:spPr>
      </p:sp>
      <p:sp>
        <p:nvSpPr>
          <p:cNvPr id="10" name="Shape 8"/>
          <p:cNvSpPr/>
          <p:nvPr/>
        </p:nvSpPr>
        <p:spPr>
          <a:xfrm>
            <a:off x="4526280" y="2011680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1" name="Text 9"/>
          <p:cNvSpPr/>
          <p:nvPr/>
        </p:nvSpPr>
        <p:spPr>
          <a:xfrm>
            <a:off x="4526280" y="20116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3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212080" y="1984248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Tiny action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44568" y="2606040"/>
            <a:ext cx="3154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7F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box: type/speak “250 momo, 120 bus” — or upload a transaction screenshot (V1, see later).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138160" y="1783080"/>
            <a:ext cx="3520440" cy="1920240"/>
          </a:xfrm>
          <a:prstGeom prst="roundRect">
            <a:avLst>
              <a:gd name="adj" fmla="val 4762"/>
            </a:avLst>
          </a:prstGeom>
          <a:solidFill>
            <a:srgbClr val="0F4C4D"/>
          </a:solidFill>
          <a:ln/>
        </p:spPr>
      </p:sp>
      <p:sp>
        <p:nvSpPr>
          <p:cNvPr id="15" name="Shape 13"/>
          <p:cNvSpPr/>
          <p:nvPr/>
        </p:nvSpPr>
        <p:spPr>
          <a:xfrm>
            <a:off x="8321040" y="2011680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6" name="Text 14"/>
          <p:cNvSpPr/>
          <p:nvPr/>
        </p:nvSpPr>
        <p:spPr>
          <a:xfrm>
            <a:off x="8321040" y="20116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3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006840" y="1984248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parse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339328" y="2606040"/>
            <a:ext cx="3154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7F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Flashcards appear; user taps to confirm.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3931920"/>
            <a:ext cx="3520440" cy="1920240"/>
          </a:xfrm>
          <a:prstGeom prst="roundRect">
            <a:avLst>
              <a:gd name="adj" fmla="val 4762"/>
            </a:avLst>
          </a:prstGeom>
          <a:solidFill>
            <a:srgbClr val="0F4C4D"/>
          </a:solidFill>
          <a:ln/>
        </p:spPr>
      </p:sp>
      <p:sp>
        <p:nvSpPr>
          <p:cNvPr id="20" name="Shape 18"/>
          <p:cNvSpPr/>
          <p:nvPr/>
        </p:nvSpPr>
        <p:spPr>
          <a:xfrm>
            <a:off x="731520" y="4160520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41605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3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417320" y="4133088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Rival translation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49808" y="4754880"/>
            <a:ext cx="3154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7F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“NPR 250 = 1.0% of Pokhara Trip.” Shown at confirmation — not buried in a tab.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343400" y="3931920"/>
            <a:ext cx="3520440" cy="1920240"/>
          </a:xfrm>
          <a:prstGeom prst="roundRect">
            <a:avLst>
              <a:gd name="adj" fmla="val 4762"/>
            </a:avLst>
          </a:prstGeom>
          <a:solidFill>
            <a:srgbClr val="0F4C4D"/>
          </a:solidFill>
          <a:ln/>
        </p:spPr>
      </p:sp>
      <p:sp>
        <p:nvSpPr>
          <p:cNvPr id="25" name="Shape 23"/>
          <p:cNvSpPr/>
          <p:nvPr/>
        </p:nvSpPr>
        <p:spPr>
          <a:xfrm>
            <a:off x="4526280" y="4160520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6" name="Text 24"/>
          <p:cNvSpPr/>
          <p:nvPr/>
        </p:nvSpPr>
        <p:spPr>
          <a:xfrm>
            <a:off x="4526280" y="41605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3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212080" y="4133088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Choice memory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544568" y="4754880"/>
            <a:ext cx="3154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7F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 each flexible item: Spent / Needed / Skipped.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138160" y="3931920"/>
            <a:ext cx="3520440" cy="1920240"/>
          </a:xfrm>
          <a:prstGeom prst="roundRect">
            <a:avLst>
              <a:gd name="adj" fmla="val 4762"/>
            </a:avLst>
          </a:prstGeom>
          <a:solidFill>
            <a:srgbClr val="0F4C4D"/>
          </a:solidFill>
          <a:ln/>
        </p:spPr>
      </p:sp>
      <p:sp>
        <p:nvSpPr>
          <p:cNvPr id="30" name="Shape 28"/>
          <p:cNvSpPr/>
          <p:nvPr/>
        </p:nvSpPr>
        <p:spPr>
          <a:xfrm>
            <a:off x="8321040" y="4160520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1" name="Text 29"/>
          <p:cNvSpPr/>
          <p:nvPr/>
        </p:nvSpPr>
        <p:spPr>
          <a:xfrm>
            <a:off x="8321040" y="41605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3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9006840" y="4133088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Reward + return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8339328" y="4754880"/>
            <a:ext cx="3154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7F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“You protected NPR 320 today.” Goal photo progresses. Report gets smarter tomorrow.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3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a Loop — The Behavioral Basis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copy the loop architecture of sticky apps, not their addiction surface.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64240" cy="1024128"/>
          </a:xfrm>
          <a:prstGeom prst="roundRect">
            <a:avLst>
              <a:gd name="adj" fmla="val 7143"/>
            </a:avLst>
          </a:prstGeom>
          <a:solidFill>
            <a:srgbClr val="F4F9F8"/>
          </a:solidFill>
          <a:ln w="12700">
            <a:solidFill>
              <a:srgbClr val="DCED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709928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Fogg Behavior Model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11880" y="1691640"/>
            <a:ext cx="6675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 needs motivation + ability + prompt at the same moment. Our prompt is the nightly trigger; ability is one 30-second box; motivation is the goal.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332720" y="1709928"/>
            <a:ext cx="1143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2770632"/>
            <a:ext cx="11064240" cy="1024128"/>
          </a:xfrm>
          <a:prstGeom prst="roundRect">
            <a:avLst>
              <a:gd name="adj" fmla="val 7143"/>
            </a:avLst>
          </a:prstGeom>
          <a:solidFill>
            <a:srgbClr val="F4F9F8"/>
          </a:solidFill>
          <a:ln w="12700">
            <a:solidFill>
              <a:srgbClr val="DCED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88036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Lally et al. (2010)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611880" y="2862072"/>
            <a:ext cx="6675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Habits form via repetition in a stable context (median 66 days, range 18–254). We own ONE context — “close my day.” Missing a single day did not break habit formation → basis for the streak-freeze.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332720" y="2880360"/>
            <a:ext cx="1143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48640" y="3941064"/>
            <a:ext cx="11064240" cy="1024128"/>
          </a:xfrm>
          <a:prstGeom prst="roundRect">
            <a:avLst>
              <a:gd name="adj" fmla="val 7143"/>
            </a:avLst>
          </a:prstGeom>
          <a:solidFill>
            <a:srgbClr val="F4F9F8"/>
          </a:solidFill>
          <a:ln w="12700">
            <a:solidFill>
              <a:srgbClr val="DCED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4050792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Variable reward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611880" y="4032504"/>
            <a:ext cx="6675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Uncertain, rotating rewards sustain a behavior far longer than a fixed one (Duolingo streaks; social-feedback reward circuitry, Sherman et al.).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332720" y="4050792"/>
            <a:ext cx="1143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/ industry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48640" y="5111496"/>
            <a:ext cx="11064240" cy="1024128"/>
          </a:xfrm>
          <a:prstGeom prst="roundRect">
            <a:avLst>
              <a:gd name="adj" fmla="val 7143"/>
            </a:avLst>
          </a:prstGeom>
          <a:solidFill>
            <a:srgbClr val="F4F9F8"/>
          </a:solidFill>
          <a:ln w="12700">
            <a:solidFill>
              <a:srgbClr val="DCED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5221224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Counter-loop logic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611880" y="5202936"/>
            <a:ext cx="6675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Cards/wallets already own the spend loop (cue → frictionless pay → pleasure → weak memory of loss). We rebuild the missing salience AFTER the fact, gently and repeatedly.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0332720" y="5221224"/>
            <a:ext cx="1143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thesis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48640" y="6547104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Ethical boundary: no infinite scroll, no public leaderboard, no shame copy, no red panic warnings. One report, one insight, one next action.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3B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Differentiator: The Rival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FC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Appears at the moment of logging — on the confirmation card, not buried in a view.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840480" cy="411480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804672" y="2084832"/>
            <a:ext cx="3328416" cy="2011680"/>
          </a:xfrm>
          <a:prstGeom prst="roundRect">
            <a:avLst>
              <a:gd name="adj" fmla="val 4545"/>
            </a:avLst>
          </a:prstGeom>
          <a:solidFill>
            <a:srgbClr val="F4F9F8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2084832"/>
            <a:ext cx="3328416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user's goal photo ]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04672" y="4224528"/>
            <a:ext cx="33284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3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“Pokhara Trip”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04672" y="4645152"/>
            <a:ext cx="33284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NPR 25,000 goal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04672" y="5120640"/>
            <a:ext cx="3328416" cy="292608"/>
          </a:xfrm>
          <a:prstGeom prst="roundRect">
            <a:avLst>
              <a:gd name="adj" fmla="val 15625"/>
            </a:avLst>
          </a:prstGeom>
          <a:solidFill>
            <a:srgbClr val="E3F3F0"/>
          </a:solidFill>
          <a:ln/>
        </p:spPr>
      </p:sp>
      <p:sp>
        <p:nvSpPr>
          <p:cNvPr id="10" name="Shape 8"/>
          <p:cNvSpPr/>
          <p:nvPr/>
        </p:nvSpPr>
        <p:spPr>
          <a:xfrm>
            <a:off x="804672" y="5120640"/>
            <a:ext cx="1131661" cy="292608"/>
          </a:xfrm>
          <a:prstGeom prst="roundRect">
            <a:avLst>
              <a:gd name="adj" fmla="val 15625"/>
            </a:avLst>
          </a:prstGeom>
          <a:solidFill>
            <a:srgbClr val="02C39A"/>
          </a:solidFill>
          <a:ln/>
        </p:spPr>
      </p:sp>
      <p:sp>
        <p:nvSpPr>
          <p:cNvPr id="11" name="Text 9"/>
          <p:cNvSpPr/>
          <p:nvPr/>
        </p:nvSpPr>
        <p:spPr>
          <a:xfrm>
            <a:off x="804672" y="5468112"/>
            <a:ext cx="33284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B3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34% — “NPR 250 = 1% of Pokhara”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709160" y="1783080"/>
            <a:ext cx="68580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required elements: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D7F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photo and a text name for one user-chosen goal.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works: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D7F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fail to mentally generate what a purchase displaces (“opportunity cost neglect,” Frederick et al. 2009). The Rival renders that trade-off automatically, against something the user actually chose.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hard rules: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D7F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FLEXIBLE spending gets the Rival trade-off. Fixed/needed costs (rent, transport, medicine, subscriptions) are excluded — never “you could have saved this” on rent.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D7F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Tone is gentle suggestion, never shame or admonishment.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3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Fix: Reward Not-Spending, Not Just Logging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flexible item gets tagged — this is what turns a tracker into a counter-loop.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20440" cy="1691640"/>
          </a:xfrm>
          <a:prstGeom prst="roundRect">
            <a:avLst>
              <a:gd name="adj" fmla="val 5405"/>
            </a:avLst>
          </a:prstGeom>
          <a:solidFill>
            <a:srgbClr val="F4F9F8"/>
          </a:solidFill>
          <a:ln w="15875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82880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Spent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77240" y="2331720"/>
            <a:ext cx="3063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flexible purchase the user chose to make. Logged against the goal as a trade-off.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343400" y="1691640"/>
            <a:ext cx="3520440" cy="1691640"/>
          </a:xfrm>
          <a:prstGeom prst="roundRect">
            <a:avLst>
              <a:gd name="adj" fmla="val 5405"/>
            </a:avLst>
          </a:prstGeom>
          <a:solidFill>
            <a:srgbClr val="F4F9F8"/>
          </a:solidFill>
          <a:ln w="15875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0" y="182880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Needed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4572000" y="2331720"/>
            <a:ext cx="3063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genuine necessity. Recorded, but not moralized — no Rival pressure.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138160" y="1691640"/>
            <a:ext cx="3520440" cy="1691640"/>
          </a:xfrm>
          <a:prstGeom prst="roundRect">
            <a:avLst>
              <a:gd name="adj" fmla="val 5405"/>
            </a:avLst>
          </a:prstGeom>
          <a:solidFill>
            <a:srgbClr val="F4F9F8"/>
          </a:solidFill>
          <a:ln w="15875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66760" y="182880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Skipped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366760" y="2331720"/>
            <a:ext cx="3063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temptation resisted. Recorded as “protected” — feeds the daily achievement.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36576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rotating reward types (must vary; the core action must always feel useful):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4114800"/>
            <a:ext cx="1106424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CED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4297680"/>
            <a:ext cx="1042416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percent — “That was 0.8% of Pokhara.”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Protected money — “You protected NPR 450 today.”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Streak — “4 days of honest logging.” (with freeze/grace day)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insight — “Snacks are up 22% from last week.”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shift — “Today moved your goal date 1 day closer.”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3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 Structure — Screens to Build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is the retention anchor; the Dashboard is secondary/minimal.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4F9F8"/>
          </a:solidFill>
          <a:ln w="12700">
            <a:solidFill>
              <a:srgbClr val="DCED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187452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874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71600" y="1865376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Goal setup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2487168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Photo, name, amount.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43400" y="164592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4F9F8"/>
          </a:solidFill>
          <a:ln w="12700">
            <a:solidFill>
              <a:srgbClr val="DCED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44568" y="187452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1" name="Text 9"/>
          <p:cNvSpPr/>
          <p:nvPr/>
        </p:nvSpPr>
        <p:spPr>
          <a:xfrm>
            <a:off x="4544568" y="1874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166360" y="1865376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 screen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0" y="2487168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Natural-language entry (opening/default screen).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138160" y="164592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4F9F8"/>
          </a:solidFill>
          <a:ln w="12700">
            <a:solidFill>
              <a:srgbClr val="DCED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39328" y="187452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6" name="Text 14"/>
          <p:cNvSpPr/>
          <p:nvPr/>
        </p:nvSpPr>
        <p:spPr>
          <a:xfrm>
            <a:off x="8339328" y="1874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961120" y="1865376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Confirm flashcards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366760" y="2487168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Parsed items, tagged Spent / Needed / Skipped.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384048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4F9F8"/>
          </a:solidFill>
          <a:ln w="12700">
            <a:solidFill>
              <a:srgbClr val="DCEDE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49808" y="406908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1" name="Text 19"/>
          <p:cNvSpPr/>
          <p:nvPr/>
        </p:nvSpPr>
        <p:spPr>
          <a:xfrm>
            <a:off x="749808" y="40690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371600" y="4059936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Rival card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77240" y="4681728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%, days affected, protected amount — at confirmation.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343400" y="384048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4F9F8"/>
          </a:solidFill>
          <a:ln w="12700">
            <a:solidFill>
              <a:srgbClr val="DCEDE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44568" y="406908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6" name="Text 24"/>
          <p:cNvSpPr/>
          <p:nvPr/>
        </p:nvSpPr>
        <p:spPr>
          <a:xfrm>
            <a:off x="4544568" y="40690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166360" y="4059936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Daily Report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572000" y="4681728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spend, protected spend, one rotating insight. THE ANCHOR.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138160" y="384048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4F9F8"/>
          </a:solidFill>
          <a:ln w="12700">
            <a:solidFill>
              <a:srgbClr val="DCEDE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339328" y="406908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1" name="Text 29"/>
          <p:cNvSpPr/>
          <p:nvPr/>
        </p:nvSpPr>
        <p:spPr>
          <a:xfrm>
            <a:off x="8339328" y="40690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8961120" y="4059936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Minimal Dashboard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8366760" y="4681728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Income, expenses, goal progress. Multi-entry income &amp; expenses live here.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48640" y="6547104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 &amp; expenses: multiple entries each (salary, freelance, rent, subscriptions). Fixed items auto-populate as pre-filled cards on their due date — one-tap confirm, not retyped.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3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Data Gets In — &amp; the Savings Number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input paths into the close-the-day ritual; the user picks the least effort per item.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6949440" cy="1097280"/>
          </a:xfrm>
          <a:prstGeom prst="roundRect">
            <a:avLst>
              <a:gd name="adj" fmla="val 6667"/>
            </a:avLst>
          </a:prstGeom>
          <a:solidFill>
            <a:srgbClr val="F4F9F8"/>
          </a:solidFill>
          <a:ln w="12700">
            <a:solidFill>
              <a:srgbClr val="DCED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719072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3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Type / speak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77240" y="2075688"/>
            <a:ext cx="6492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“250 momo” — parsed instantly. The rock-solid path that always works.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2834640"/>
            <a:ext cx="6949440" cy="1097280"/>
          </a:xfrm>
          <a:prstGeom prst="roundRect">
            <a:avLst>
              <a:gd name="adj" fmla="val 6667"/>
            </a:avLst>
          </a:prstGeom>
          <a:solidFill>
            <a:srgbClr val="F4F9F8"/>
          </a:solidFill>
          <a:ln w="12700">
            <a:solidFill>
              <a:srgbClr val="DCED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953512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3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Screenshot upload (V1)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77240" y="3310128"/>
            <a:ext cx="6492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a transaction screenshot from any banking app / wallet / SMS; OCR + vision reads the amount. Cross-platform, guarantees the amount is correct. Fixes accuracy, not effort.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4069080"/>
            <a:ext cx="6949440" cy="1097280"/>
          </a:xfrm>
          <a:prstGeom prst="roundRect">
            <a:avLst>
              <a:gd name="adj" fmla="val 6667"/>
            </a:avLst>
          </a:prstGeom>
          <a:solidFill>
            <a:srgbClr val="F4F9F8"/>
          </a:solidFill>
          <a:ln w="12700">
            <a:solidFill>
              <a:srgbClr val="DCED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4187952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3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 fixed-expense card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777240" y="4544568"/>
            <a:ext cx="6492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 items pre-populate on their due date; one-tap confirm.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680960" y="1600200"/>
            <a:ext cx="3931920" cy="3611880"/>
          </a:xfrm>
          <a:prstGeom prst="roundRect">
            <a:avLst>
              <a:gd name="adj" fmla="val 3038"/>
            </a:avLst>
          </a:prstGeom>
          <a:solidFill>
            <a:srgbClr val="0B3B3C"/>
          </a:solidFill>
          <a:ln/>
        </p:spPr>
      </p:sp>
      <p:sp>
        <p:nvSpPr>
          <p:cNvPr id="14" name="Text 12"/>
          <p:cNvSpPr/>
          <p:nvPr/>
        </p:nvSpPr>
        <p:spPr>
          <a:xfrm>
            <a:off x="7909560" y="178308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savings number, done safely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909560" y="2331720"/>
            <a:ext cx="352044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D7F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bare “remaining balance” can backfire (permission to spend). So instead of one big remaining bar, show:</a:t>
            </a:r>
            <a:endParaRPr lang="en-US" sz="1150" dirty="0"/>
          </a:p>
          <a:p>
            <a:pPr indent="0" marL="0">
              <a:spcAft>
                <a:spcPts val="500"/>
              </a:spcAft>
              <a:buNone/>
            </a:pP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Projected month-end buffer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protected today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 spend so far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48640" y="5532120"/>
            <a:ext cx="6949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Savings is still calculated (income − expenses, live) — it's just framed as buffer/progress, not a spendable leftover.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3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Version 1 (This Build) vs Version 2 (Roadmap)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440680" cy="4663440"/>
          </a:xfrm>
          <a:prstGeom prst="roundRect">
            <a:avLst>
              <a:gd name="adj" fmla="val 2353"/>
            </a:avLst>
          </a:prstGeom>
          <a:solidFill>
            <a:srgbClr val="F4F9F8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417320"/>
            <a:ext cx="5440680" cy="548640"/>
          </a:xfrm>
          <a:prstGeom prst="roundRect">
            <a:avLst>
              <a:gd name="adj" fmla="val 20000"/>
            </a:avLst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41732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VERSION 1 — the 3-day MVP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148840"/>
            <a:ext cx="4937760" cy="3794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setup (photo + name + amount)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Close-the-day ritual + streak (with freeze)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Natural-language logging + AI parse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upload → OCR (demo on prepared formats; manual entry is the always-works fallback)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Spent / Needed / Skipped tagging on flexible items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Rival trade-off on the confirmation card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Report with rotating reward + one insight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dashboard; multi-entry income &amp; expenses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expenses excluded from Rival, auto-populated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172200" y="1417320"/>
            <a:ext cx="5440680" cy="4663440"/>
          </a:xfrm>
          <a:prstGeom prst="roundRect">
            <a:avLst>
              <a:gd name="adj" fmla="val 2353"/>
            </a:avLst>
          </a:prstGeom>
          <a:solidFill>
            <a:srgbClr val="F4F9F8"/>
          </a:solidFill>
          <a:ln w="19050">
            <a:solidFill>
              <a:srgbClr val="00A89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172200" y="1417320"/>
            <a:ext cx="5440680" cy="548640"/>
          </a:xfrm>
          <a:prstGeom prst="roundRect">
            <a:avLst>
              <a:gd name="adj" fmla="val 20000"/>
            </a:avLst>
          </a:prstGeom>
          <a:solidFill>
            <a:srgbClr val="00A896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0" y="141732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VERSION 2 — roadmap (deferred)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46520" y="2148840"/>
            <a:ext cx="4937760" cy="3794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SMS / notification parsing (feeds a draft queue for the nightly ritual, not silent auto-log) — Android-only; needs per-format work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bank-API linking / account aggregation — requires an open-banking framework or per-bank agreements; feasibility varies by country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Multi-account / household sharing (roommates, couples, family): permissions, shared vs. individual categories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/ trip tab, weekly recap, voice input, shareable report image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3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MVP Scope (MoSCoW) for the 3-Day Build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2560320" cy="470916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417320"/>
            <a:ext cx="2560320" cy="502920"/>
          </a:xfrm>
          <a:prstGeom prst="roundRect">
            <a:avLst>
              <a:gd name="adj" fmla="val 18182"/>
            </a:avLst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41732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MUST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2084832"/>
            <a:ext cx="219456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setup (photo+name+amount)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Close-the-day ritual + streak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 logging + AI parse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Spent/Needed/Skipped tagging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Rival trade-off at confirmation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Report + rotating reward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dashboard, multi-entry income/expense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337560" y="1417320"/>
            <a:ext cx="2560320" cy="470916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9050">
            <a:solidFill>
              <a:srgbClr val="00A89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337560" y="1417320"/>
            <a:ext cx="2560320" cy="502920"/>
          </a:xfrm>
          <a:prstGeom prst="roundRect">
            <a:avLst>
              <a:gd name="adj" fmla="val 18182"/>
            </a:avLst>
          </a:prstGeom>
          <a:solidFill>
            <a:srgbClr val="00A896"/>
          </a:solidFill>
          <a:ln/>
        </p:spPr>
      </p:sp>
      <p:sp>
        <p:nvSpPr>
          <p:cNvPr id="9" name="Text 7"/>
          <p:cNvSpPr/>
          <p:nvPr/>
        </p:nvSpPr>
        <p:spPr>
          <a:xfrm>
            <a:off x="3429000" y="141732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SHOULD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520440" y="2084832"/>
            <a:ext cx="219456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→ OCR input (demo on prepared formats)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Streak freeze / grace day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Fixed-expense auto-populate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126480" y="1417320"/>
            <a:ext cx="2560320" cy="470916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9050">
            <a:solidFill>
              <a:srgbClr val="02C39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126480" y="1417320"/>
            <a:ext cx="2560320" cy="502920"/>
          </a:xfrm>
          <a:prstGeom prst="roundRect">
            <a:avLst>
              <a:gd name="adj" fmla="val 18182"/>
            </a:avLst>
          </a:prstGeom>
          <a:solidFill>
            <a:srgbClr val="02C39A"/>
          </a:solidFill>
          <a:ln/>
        </p:spPr>
      </p:sp>
      <p:sp>
        <p:nvSpPr>
          <p:cNvPr id="13" name="Text 11"/>
          <p:cNvSpPr/>
          <p:nvPr/>
        </p:nvSpPr>
        <p:spPr>
          <a:xfrm>
            <a:off x="6217920" y="141732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COULD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309360" y="2084832"/>
            <a:ext cx="219456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input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recap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/ trip tab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Shareable report image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915400" y="1417320"/>
            <a:ext cx="2560320" cy="470916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9050">
            <a:solidFill>
              <a:srgbClr val="5B6B6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915400" y="1417320"/>
            <a:ext cx="2560320" cy="502920"/>
          </a:xfrm>
          <a:prstGeom prst="roundRect">
            <a:avLst>
              <a:gd name="adj" fmla="val 18182"/>
            </a:avLst>
          </a:prstGeom>
          <a:solidFill>
            <a:srgbClr val="5B6B6B"/>
          </a:solidFill>
          <a:ln/>
        </p:spPr>
      </p:sp>
      <p:sp>
        <p:nvSpPr>
          <p:cNvPr id="17" name="Text 15"/>
          <p:cNvSpPr/>
          <p:nvPr/>
        </p:nvSpPr>
        <p:spPr>
          <a:xfrm>
            <a:off x="9006840" y="141732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WON'T (V1)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098280" y="2084832"/>
            <a:ext cx="219456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SMS/notification auto-parse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Bank-API linking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Multi-account / household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tracking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budget-remaining bar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Shame / red warnings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3B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Demo: One Beautiful Loop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FC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else serves this. Build and rehearse this single flow.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73736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100"/>
              </a:spcAft>
              <a:buNone/>
            </a:pPr>
            <a:r>
              <a:rPr lang="en-US" sz="1500" dirty="0">
                <a:solidFill>
                  <a:srgbClr val="D7F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Create goal: photo, name, amount (Pokhara Trip, NPR 25,000).</a:t>
            </a:r>
            <a:endParaRPr lang="en-US" sz="150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1500" dirty="0">
                <a:solidFill>
                  <a:srgbClr val="D7F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Type or speak “250 momo.”</a:t>
            </a:r>
            <a:endParaRPr lang="en-US" sz="150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1500" dirty="0">
                <a:solidFill>
                  <a:srgbClr val="D7F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App parses amount + category into a flashcard.</a:t>
            </a:r>
            <a:endParaRPr lang="en-US" sz="150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1500" dirty="0">
                <a:solidFill>
                  <a:srgbClr val="D7F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Rival card: “NPR 250 = 1.0% of Pokhara Trip.”</a:t>
            </a:r>
            <a:endParaRPr lang="en-US" sz="150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1500" dirty="0">
                <a:solidFill>
                  <a:srgbClr val="D7F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Two buttons: Spent  /  Skipped.</a:t>
            </a:r>
            <a:endParaRPr lang="en-US" sz="150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1500" dirty="0">
                <a:solidFill>
                  <a:srgbClr val="D7F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If Skipped → “NPR 250 protected today,” goal ticks forward.</a:t>
            </a:r>
            <a:endParaRPr lang="en-US" sz="150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1500" dirty="0">
                <a:solidFill>
                  <a:srgbClr val="D7F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 Daily Report: “You spent NPR X, protected NPR Y, moved Z% closer.”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3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 Risks &amp; Likely Judge Questions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 we already know: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548640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opportunity-cost rendering amplifies a verified generic effect — not itself tested.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 size is moderate (d≈0.22 at scale); one replication failed. Don't promise a % spending cut.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End-of-day recall may be imperfect — screenshot input helps accuracy, doesn't remove effort.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Whether the Rival tone lands or feels twee is execution/taste — test cold before finalizing.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reward must rotate or users tune it out by day 4.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Single-goal is a deliberate cut; users may want more.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263640" y="1371600"/>
            <a:ext cx="5349240" cy="4709160"/>
          </a:xfrm>
          <a:prstGeom prst="roundRect">
            <a:avLst>
              <a:gd name="adj" fmla="val 1942"/>
            </a:avLst>
          </a:prstGeom>
          <a:solidFill>
            <a:srgbClr val="F4F9F8"/>
          </a:solidFill>
          <a:ln w="12700">
            <a:solidFill>
              <a:srgbClr val="DCED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92240" y="150876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Judges will likely ask: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92240" y="1920240"/>
            <a:ext cx="493776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would users log after abandoning other trackers?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this change behavior or just make people feel bad?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is this different from YNAB / Qapital / savings goals?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they log after buying, isn't the intervention too late?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AI parsing necessary, or just a form with extra text?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you prevent shame? What about essentials?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metric proves it works?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92240" y="5029200"/>
            <a:ext cx="4937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answer: </a:t>
            </a:r>
            <a:pPr indent="0" marL="0">
              <a:buNone/>
            </a:pPr>
            <a:r>
              <a:rPr lang="en-US" sz="1150" i="1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cut logging friction, intervene at the moment of reflection, and measure protected spend + return rate — not just entries.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3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 (1/2)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Corrections applied in this version are noted in italics.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9728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Frederick, Novemsky, Wang, Dhar, Nowlis (2009). Opportunity Cost Neglect. J. Consumer Research. (DVD 75%→55%)</a:t>
            </a:r>
            <a:endParaRPr lang="en-US" sz="12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 cost neglect: a meta-analysis (2023). J. Economic Science Association. (39 studies, N=14,005, d≈0.22)</a:t>
            </a:r>
            <a:endParaRPr lang="en-US" sz="12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Lally, van Jaarsveld, Potts, Wardle (2010). How are habits formed. European J. Social Psychology. (66-day median; missing a day doesn't break it)</a:t>
            </a:r>
            <a:endParaRPr lang="en-US" sz="12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Fogg Behavior Model — Stanford Behavior Design Lab. (motivation × ability × prompt)</a:t>
            </a:r>
            <a:endParaRPr lang="en-US" sz="12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Soman (2003). Payment transparency &amp; pain of paying.</a:t>
            </a:r>
            <a:endParaRPr lang="en-US" sz="12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Prelec &amp; Simester. Credit cards raise willingness to pay vs cash.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3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 (2/2)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463040"/>
            <a:ext cx="5440680" cy="4663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Knutson, Rick, Wimmer, Loewenstein, Prelec (2007). Neural Predictors of Purchases. Neuron. NOTE: shows insula activation to excessive PRICE — not a cash-vs-card result. Corrected from earlier drafts.</a:t>
            </a:r>
            <a:endParaRPr lang="en-US" sz="10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Cash-vs-card insula pilot (Frontiers in Neuroscience, 2019) — exploratory, n=16. Cite carefully.</a:t>
            </a:r>
            <a:endParaRPr lang="en-US" sz="10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Sherman et al. — social-media “likes” &amp; reward circuitry (fMRI).</a:t>
            </a:r>
            <a:endParaRPr lang="en-US" sz="10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Lieberman et al. (2007) — affect labeling. NOTE: only relevant if the app labels feelings; currently not a core feature.</a:t>
            </a:r>
            <a:endParaRPr lang="en-US" sz="10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PMC scoping review (2024) — behavior-change app abandonment (~70%, health/lifestyle, not finance).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172200" y="1463040"/>
            <a:ext cx="5440680" cy="4663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BehavioralEconomics.com / TFI — budget-feedback backfire (narrow: precise standing feedback, late in period).</a:t>
            </a:r>
            <a:endParaRPr lang="en-US" sz="10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Ashraf, Karlan, Yin — SEED commitment savings (Philippines). Background only.</a:t>
            </a:r>
            <a:endParaRPr lang="en-US" sz="10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Kast, Meier, Pomeranz — peer-savings groups (Chile). Background only.</a:t>
            </a:r>
            <a:endParaRPr lang="en-US" sz="10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Duolingo / Snapchat streaks; TikTok, YouTube, Instagram recommender posts — company self-descriptions of loop architecture, not research. Use as precedent, not proof.</a:t>
            </a:r>
            <a:endParaRPr lang="en-US" sz="10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1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 apps: MonAi, Finny, FinTrack, SmartSpend, Say, Bread, WalletCorner, YNAB, Qapital, Gullak, PennyTrail.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3B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463040"/>
            <a:ext cx="4754880" cy="4754880"/>
          </a:xfrm>
          <a:prstGeom prst="ellipse">
            <a:avLst/>
          </a:prstGeom>
          <a:solidFill>
            <a:srgbClr val="028090">
              <a:alpha val="58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33172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D7F2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Cashless payments made spending invisible.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22960" y="30632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Wallet Whisperer makes saving visible again.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822960" y="53949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v5 locked — core loop defined, V1 scoped, V2 roadmapped, citations corrected.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2026-07-10T06:01:13Z</dcterms:created>
  <dcterms:modified xsi:type="dcterms:W3CDTF">2026-07-10T06:01:13Z</dcterms:modified>
</cp:coreProperties>
</file>